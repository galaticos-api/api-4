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f76d55e9c407f" /><Relationship Type="http://schemas.openxmlformats.org/officeDocument/2006/relationships/extended-properties" Target="/docProps/app.xml" Id="R3b0b5ebeead241e8" /><Relationship Type="http://schemas.openxmlformats.org/officeDocument/2006/relationships/officeDocument" Target="/ppt/presentation.xml" Id="R83befdd5a3eb47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0e63eeb434da6"/>
  </p:sldMasterIdLst>
  <p:notesMasterIdLst>
    <p:notesMasterId xmlns:r="http://schemas.openxmlformats.org/officeDocument/2006/relationships" r:id="R068dbd2281814763"/>
  </p:notesMasterIdLst>
  <p:sldIdLst>
    <p:sldId xmlns:r="http://schemas.openxmlformats.org/officeDocument/2006/relationships" id="256" r:id="R0fcc68be81c34b24"/>
    <p:sldId xmlns:r="http://schemas.openxmlformats.org/officeDocument/2006/relationships" id="257" r:id="R66852400afc74b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66ce5071784a48" /><Relationship Type="http://schemas.openxmlformats.org/officeDocument/2006/relationships/slideMaster" Target="/ppt/slideMasters/slideMaster1.xml" Id="Rba00e63eeb434da6" /><Relationship Type="http://schemas.openxmlformats.org/officeDocument/2006/relationships/notesMaster" Target="/ppt/notesMasters/notesMaster1.xml" Id="R068dbd2281814763" /><Relationship Type="http://schemas.openxmlformats.org/officeDocument/2006/relationships/presProps" Target="/ppt/presProps.xml" Id="R0a96f7f56ea44bbb" /><Relationship Type="http://schemas.openxmlformats.org/officeDocument/2006/relationships/tableStyles" Target="/ppt/tableStyles.xml" Id="Rf913f8ce2d62474b" /><Relationship Type="http://schemas.openxmlformats.org/officeDocument/2006/relationships/slide" Target="/ppt/slides/slide1.xml" Id="R0fcc68be81c34b24" /><Relationship Type="http://schemas.openxmlformats.org/officeDocument/2006/relationships/slide" Target="/ppt/slides/slide2.xml" Id="R66852400afc74b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638db9372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1fdbd171474ab1" /><Relationship Type="http://schemas.openxmlformats.org/officeDocument/2006/relationships/notesMaster" Target="/ppt/notesMasters/notesMaster1.xml" Id="R5980b59da3cf4b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42d8d4620d4aef" /><Relationship Type="http://schemas.openxmlformats.org/officeDocument/2006/relationships/notesMaster" Target="/ppt/notesMasters/notesMaster1.xml" Id="Rc4cb50af895341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quadro Trello Sinapse — Scrum — 2026/2 - API4, cartões da Sprint 2 consultados em 25/10/2026.</a:t>
            </a:r>
          </a:p>
          <a:p xmlns:a="http://schemas.openxmlformats.org/drawingml/2006/main">
            <a:r>
              <a:t>Cartões: https://trello.com/c/MeZHLVQ0 (S2-01), https://trello.com/c/yA1NWQaX (S2-03), https://trello.com/c/GemzQ9yZ (S2-06), https://trello.com/c/dcMwua4v (S2-09), https://trello.com/c/Ro4lrcPS (S2-13), https://trello.com/c/nP7Fjyn6 (S2-17), https://trello.com/c/o7gsEzJQ (S2-24).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quadro Trello Sinapse — Scrum — 2026/2 - API4. Todos os cartões ativos S2 listados para este resumo aparecem na lista Concluído na consulta de 25/10/2026.</a:t>
            </a:r>
          </a:p>
          <a:p xmlns:a="http://schemas.openxmlformats.org/drawingml/2006/main">
            <a:r>
              <a:t>Referências: https://trello.com/c/qYMZasi7 (S2-02), https://trello.com/c/bY9fh58X (S2-05), https://trello.com/c/lv2V7rzF (S2-08), https://trello.com/c/CeXHuIjm (S2-10), https://trello.com/c/lOrCJtWl (S2-21), https://trello.com/c/VRs06uXb (S2-23).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8a220d75b45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e6f9fa9704c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5bb7a566842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ac4633b2447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afb90b61647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759e7425d4d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06487C-97EA-4EDF-A859-12A11930D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C76F78-6EBC-4669-BED8-460BC6CE4E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400E76-D5E6-453F-A46E-BCF486032C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0309C0-EEDF-4F60-823B-96C30EA16C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A859F1-172D-4A9B-913A-82A390474F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4726DC-076F-4685-9102-C9D991B37E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B87392-D66D-4B01-B23C-2A5787136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7B9186-C82D-474D-B9FD-040C5296F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7A4483-2D15-4FA9-B6D4-384337C38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B429BE-E6E1-4D52-A93D-F8C6DFC67D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1f753e7ff4a05" /><Relationship Type="http://schemas.openxmlformats.org/officeDocument/2006/relationships/slideLayout" Target="/ppt/slideLayouts/slideLayout1.xml" Id="Rcf55e8eb417e4e9a" /><Relationship Type="http://schemas.openxmlformats.org/officeDocument/2006/relationships/slideLayout" Target="/ppt/slideLayouts/slideLayout2.xml" Id="R89285cb6b8f249a9" /><Relationship Type="http://schemas.openxmlformats.org/officeDocument/2006/relationships/slideLayout" Target="/ppt/slideLayouts/slideLayout3.xml" Id="R3e5079e56fd64421" /><Relationship Type="http://schemas.openxmlformats.org/officeDocument/2006/relationships/slideLayout" Target="/ppt/slideLayouts/slideLayout4.xml" Id="R0b79ebcc2f7e42b6" /><Relationship Type="http://schemas.openxmlformats.org/officeDocument/2006/relationships/slideLayout" Target="/ppt/slideLayouts/slideLayout5.xml" Id="R65c3688f0f6d4930" /><Relationship Type="http://schemas.openxmlformats.org/officeDocument/2006/relationships/slideLayout" Target="/ppt/slideLayouts/slideLayout6.xml" Id="Rf92fe60b51b54f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55e8eb417e4e9a"/>
    <p:sldLayoutId xmlns:r="http://schemas.openxmlformats.org/officeDocument/2006/relationships" id="2147483650" r:id="R89285cb6b8f249a9"/>
    <p:sldLayoutId xmlns:r="http://schemas.openxmlformats.org/officeDocument/2006/relationships" id="2147483651" r:id="R3e5079e56fd64421"/>
    <p:sldLayoutId xmlns:r="http://schemas.openxmlformats.org/officeDocument/2006/relationships" id="2147483652" r:id="R0b79ebcc2f7e42b6"/>
    <p:sldLayoutId xmlns:r="http://schemas.openxmlformats.org/officeDocument/2006/relationships" id="2147483653" r:id="R65c3688f0f6d4930"/>
    <p:sldLayoutId xmlns:r="http://schemas.openxmlformats.org/officeDocument/2006/relationships" id="2147483654" r:id="Rf92fe60b51b54f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1482234494b7b" /><Relationship Type="http://schemas.openxmlformats.org/officeDocument/2006/relationships/notesSlide" Target="/ppt/notesSlides/notesSlide1.xml" Id="Ra28dac01abe14c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5987c70ee435d" /><Relationship Type="http://schemas.openxmlformats.org/officeDocument/2006/relationships/notesSlide" Target="/ppt/notesSlides/notesSlide2.xml" Id="Rffe9e31db9034d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backlog">
            <a:extLst xmlns:a="http://schemas.openxmlformats.org/drawingml/2006/main">
              <a:ext uri="{FF2B5EF4-FFF2-40B4-BE49-F238E27FC236}">
                <a16:creationId xmlns:a16="http://schemas.microsoft.com/office/drawing/2014/main" id="{2CBF1198-5A5A-4CCA-8C34-5E851A3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Backlog da Sprint 2</a:t>
            </a:r>
          </a:p>
        </p:txBody>
      </p:sp>
      <p:sp>
        <p:nvSpPr>
          <p:cNvPr id="2" name="scope-badge">
            <a:extLst xmlns:a="http://schemas.openxmlformats.org/drawingml/2006/main">
              <a:ext uri="{FF2B5EF4-FFF2-40B4-BE49-F238E27FC236}">
                <a16:creationId xmlns:a16="http://schemas.microsoft.com/office/drawing/2014/main" id="{1F50E762-73F3-45E9-876B-7C5B5BD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3400"/>
            <a:ext cx="26289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47625">
            <a:solidFill>
              <a:srgbClr val="F04C08"/>
            </a:solidFill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ESCOPO PLANEJADO</a:t>
            </a:r>
          </a:p>
        </p:txBody>
      </p:sp>
      <p:sp>
        <p:nvSpPr>
          <p:cNvPr id="3" name="table-header-outline">
            <a:extLst xmlns:a="http://schemas.openxmlformats.org/drawingml/2006/main">
              <a:ext uri="{FF2B5EF4-FFF2-40B4-BE49-F238E27FC236}">
                <a16:creationId xmlns:a16="http://schemas.microsoft.com/office/drawing/2014/main" id="{FD2F4A44-280F-4938-BBFD-B756B994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46E8"/>
            </a:solidFill>
            <a:prstDash val="solid"/>
          </a:ln>
        </p:spPr>
      </p:sp>
      <p:sp>
        <p:nvSpPr>
          <p:cNvPr id="4" name="header-fronts">
            <a:extLst xmlns:a="http://schemas.openxmlformats.org/drawingml/2006/main">
              <a:ext uri="{FF2B5EF4-FFF2-40B4-BE49-F238E27FC236}">
                <a16:creationId xmlns:a16="http://schemas.microsoft.com/office/drawing/2014/main" id="{A8D53767-0AA0-4801-BA3D-8AD7CAB3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3049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F5F7"/>
                </a:solidFill>
                <a:latin typeface="Aptos"/>
                <a:ea typeface="Aptos"/>
                <a:cs typeface="Aptos"/>
              </a:rPr>
              <a:t>FRENTES</a:t>
            </a:r>
          </a:p>
        </p:txBody>
      </p:sp>
      <p:sp>
        <p:nvSpPr>
          <p:cNvPr id="5" name="header-tasks">
            <a:extLst xmlns:a="http://schemas.openxmlformats.org/drawingml/2006/main">
              <a:ext uri="{FF2B5EF4-FFF2-40B4-BE49-F238E27FC236}">
                <a16:creationId xmlns:a16="http://schemas.microsoft.com/office/drawing/2014/main" id="{24C22B5E-8E1F-4333-B18A-31726D6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049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F5F7"/>
                </a:solidFill>
                <a:latin typeface="Aptos"/>
                <a:ea typeface="Aptos"/>
                <a:cs typeface="Aptos"/>
              </a:rPr>
              <a:t>TAREFAS</a:t>
            </a:r>
          </a:p>
        </p:txBody>
      </p:sp>
      <p:sp>
        <p:nvSpPr>
          <p:cNvPr id="6" name="front-1">
            <a:extLst xmlns:a="http://schemas.openxmlformats.org/drawingml/2006/main">
              <a:ext uri="{FF2B5EF4-FFF2-40B4-BE49-F238E27FC236}">
                <a16:creationId xmlns:a16="http://schemas.microsoft.com/office/drawing/2014/main" id="{E5C03F09-2B46-4B06-95DE-82A20C7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Documentos e indexação</a:t>
            </a:r>
          </a:p>
        </p:txBody>
      </p:sp>
      <p:sp>
        <p:nvSpPr>
          <p:cNvPr id="7" name="tasks-1">
            <a:extLst xmlns:a="http://schemas.openxmlformats.org/drawingml/2006/main">
              <a:ext uri="{FF2B5EF4-FFF2-40B4-BE49-F238E27FC236}">
                <a16:creationId xmlns:a16="http://schemas.microsoft.com/office/drawing/2014/main" id="{3BCE4845-7497-4BD3-BB0A-6173A423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5F5F7"/>
                </a:solidFill>
                <a:latin typeface="Aptos"/>
                <a:ea typeface="Aptos"/>
                <a:cs typeface="Aptos"/>
              </a:rPr>
              <a:t>S2-01 a S2-03, S2-05 e S2-23</a:t>
            </a:r>
          </a:p>
        </p:txBody>
      </p:sp>
      <p:sp>
        <p:nvSpPr>
          <p:cNvPr id="8" name="front-2">
            <a:extLst xmlns:a="http://schemas.openxmlformats.org/drawingml/2006/main">
              <a:ext uri="{FF2B5EF4-FFF2-40B4-BE49-F238E27FC236}">
                <a16:creationId xmlns:a16="http://schemas.microsoft.com/office/drawing/2014/main" id="{0095F2A3-6176-440C-A7B7-16D8DF5F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Busca e avaliação</a:t>
            </a:r>
          </a:p>
        </p:txBody>
      </p:sp>
      <p:sp>
        <p:nvSpPr>
          <p:cNvPr id="9" name="tasks-2">
            <a:extLst xmlns:a="http://schemas.openxmlformats.org/drawingml/2006/main">
              <a:ext uri="{FF2B5EF4-FFF2-40B4-BE49-F238E27FC236}">
                <a16:creationId xmlns:a16="http://schemas.microsoft.com/office/drawing/2014/main" id="{2DD9748D-E185-41F1-8270-8A82283B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384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5F5F7"/>
                </a:solidFill>
                <a:latin typeface="Aptos"/>
                <a:ea typeface="Aptos"/>
                <a:cs typeface="Aptos"/>
              </a:rPr>
              <a:t>S2-06, S2-08 e S2-17</a:t>
            </a:r>
          </a:p>
        </p:txBody>
      </p:sp>
      <p:sp>
        <p:nvSpPr>
          <p:cNvPr id="10" name="front-3">
            <a:extLst xmlns:a="http://schemas.openxmlformats.org/drawingml/2006/main">
              <a:ext uri="{FF2B5EF4-FFF2-40B4-BE49-F238E27FC236}">
                <a16:creationId xmlns:a16="http://schemas.microsoft.com/office/drawing/2014/main" id="{6CA2E9F1-C848-4CBB-A2F0-A7D649C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Copiloto e RAG</a:t>
            </a:r>
          </a:p>
        </p:txBody>
      </p:sp>
      <p:sp>
        <p:nvSpPr>
          <p:cNvPr id="11" name="tasks-3">
            <a:extLst xmlns:a="http://schemas.openxmlformats.org/drawingml/2006/main">
              <a:ext uri="{FF2B5EF4-FFF2-40B4-BE49-F238E27FC236}">
                <a16:creationId xmlns:a16="http://schemas.microsoft.com/office/drawing/2014/main" id="{45FC4EEB-1232-4D77-AC1C-C519AAB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194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5F5F7"/>
                </a:solidFill>
                <a:latin typeface="Aptos"/>
                <a:ea typeface="Aptos"/>
                <a:cs typeface="Aptos"/>
              </a:rPr>
              <a:t>S2-09 a S2-13, S2-21 e S2-24</a:t>
            </a:r>
          </a:p>
        </p:txBody>
      </p:sp>
      <p:sp>
        <p:nvSpPr>
          <p:cNvPr id="12" name="front-4">
            <a:extLst xmlns:a="http://schemas.openxmlformats.org/drawingml/2006/main">
              <a:ext uri="{FF2B5EF4-FFF2-40B4-BE49-F238E27FC236}">
                <a16:creationId xmlns:a16="http://schemas.microsoft.com/office/drawing/2014/main" id="{05023F81-AF52-4E0F-A36E-E2516FC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Histórico e relações do backlog</a:t>
            </a:r>
          </a:p>
        </p:txBody>
      </p:sp>
      <p:sp>
        <p:nvSpPr>
          <p:cNvPr id="13" name="tasks-4">
            <a:extLst xmlns:a="http://schemas.openxmlformats.org/drawingml/2006/main">
              <a:ext uri="{FF2B5EF4-FFF2-40B4-BE49-F238E27FC236}">
                <a16:creationId xmlns:a16="http://schemas.microsoft.com/office/drawing/2014/main" id="{A660843F-0094-4962-AE79-DF30C4AD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005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5F5F7"/>
                </a:solidFill>
                <a:latin typeface="Aptos"/>
                <a:ea typeface="Aptos"/>
                <a:cs typeface="Aptos"/>
              </a:rPr>
              <a:t>S2-15 e S2-16</a:t>
            </a:r>
          </a:p>
        </p:txBody>
      </p:sp>
      <p:sp>
        <p:nvSpPr>
          <p:cNvPr id="14" name="front-5">
            <a:extLst xmlns:a="http://schemas.openxmlformats.org/drawingml/2006/main">
              <a:ext uri="{FF2B5EF4-FFF2-40B4-BE49-F238E27FC236}">
                <a16:creationId xmlns:a16="http://schemas.microsoft.com/office/drawing/2014/main" id="{D5281CA5-8BBB-486D-A52F-8FA3ED4F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Qualidade organizacional</a:t>
            </a:r>
          </a:p>
        </p:txBody>
      </p:sp>
      <p:sp>
        <p:nvSpPr>
          <p:cNvPr id="15" name="tasks-5">
            <a:extLst xmlns:a="http://schemas.openxmlformats.org/drawingml/2006/main">
              <a:ext uri="{FF2B5EF4-FFF2-40B4-BE49-F238E27FC236}">
                <a16:creationId xmlns:a16="http://schemas.microsoft.com/office/drawing/2014/main" id="{8321BDDE-D5B9-4303-8F62-4A4784F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81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5F5F7"/>
                </a:solidFill>
                <a:latin typeface="Aptos"/>
                <a:ea typeface="Aptos"/>
                <a:cs typeface="Aptos"/>
              </a:rPr>
              <a:t>S2-19 e S2-20</a:t>
            </a:r>
          </a:p>
        </p:txBody>
      </p:sp>
      <p:sp>
        <p:nvSpPr>
          <p:cNvPr id="16" name="consolidated-task-note">
            <a:extLst xmlns:a="http://schemas.openxmlformats.org/drawingml/2006/main">
              <a:ext uri="{FF2B5EF4-FFF2-40B4-BE49-F238E27FC236}">
                <a16:creationId xmlns:a16="http://schemas.microsoft.com/office/drawing/2014/main" id="{CC761BC1-A40A-4C34-96B7-CDBB148E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C8CECE"/>
                </a:solidFill>
                <a:latin typeface="Aptos"/>
                <a:ea typeface="Aptos"/>
                <a:cs typeface="Aptos"/>
              </a:rPr>
              <a:t>S2-04, S2-07 e S2-14 foram consolidadas em S2-03, S2-06 e S2-13.</a:t>
            </a:r>
          </a:p>
        </p:txBody>
      </p:sp>
    </p:spTree>
    <p:extLst>
      <p:ext uri="{BB962C8B-B14F-4D97-AF65-F5344CB8AC3E}">
        <p14:creationId xmlns:p14="http://schemas.microsoft.com/office/powerpoint/2010/main" val="1384354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results">
            <a:extLst xmlns:a="http://schemas.openxmlformats.org/drawingml/2006/main">
              <a:ext uri="{FF2B5EF4-FFF2-40B4-BE49-F238E27FC236}">
                <a16:creationId xmlns:a16="http://schemas.microsoft.com/office/drawing/2014/main" id="{543262D4-C7EE-4715-8DD0-B31E2534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Resultados documentados</a:t>
            </a:r>
          </a:p>
        </p:txBody>
      </p:sp>
      <p:sp>
        <p:nvSpPr>
          <p:cNvPr id="2" name="panel-1">
            <a:extLst xmlns:a="http://schemas.openxmlformats.org/drawingml/2006/main">
              <a:ext uri="{FF2B5EF4-FFF2-40B4-BE49-F238E27FC236}">
                <a16:creationId xmlns:a16="http://schemas.microsoft.com/office/drawing/2014/main" id="{BDA37ED6-23DF-4918-BA46-986713C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04950"/>
            <a:ext cx="541020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10101B"/>
          </a:solidFill>
          <a:ln xmlns:a="http://schemas.openxmlformats.org/drawingml/2006/main" w="28575">
            <a:solidFill>
              <a:srgbClr val="C8CECE"/>
            </a:solidFill>
            <a:prstDash val="solid"/>
          </a:ln>
        </p:spPr>
      </p:sp>
      <p:sp>
        <p:nvSpPr>
          <p:cNvPr id="3" name="panel-heading-1">
            <a:extLst xmlns:a="http://schemas.openxmlformats.org/drawingml/2006/main">
              <a:ext uri="{FF2B5EF4-FFF2-40B4-BE49-F238E27FC236}">
                <a16:creationId xmlns:a16="http://schemas.microsoft.com/office/drawing/2014/main" id="{76D3A6C3-2613-4204-ADC1-1B379183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01  ACERVO E BUSCA</a:t>
            </a:r>
          </a:p>
        </p:txBody>
      </p:sp>
      <p:sp>
        <p:nvSpPr>
          <p:cNvPr id="4" name="panel-1-bullet-1">
            <a:extLst xmlns:a="http://schemas.openxmlformats.org/drawingml/2006/main">
              <a:ext uri="{FF2B5EF4-FFF2-40B4-BE49-F238E27FC236}">
                <a16:creationId xmlns:a16="http://schemas.microsoft.com/office/drawing/2014/main" id="{B2CFEA6C-E6D2-4F8C-9912-23D1524E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Pipeline assíncrono de documentos e relatórios do RepoAnalyzer</a:t>
            </a:r>
          </a:p>
        </p:txBody>
      </p:sp>
      <p:sp>
        <p:nvSpPr>
          <p:cNvPr id="5" name="panel-1-bullet-2">
            <a:extLst xmlns:a="http://schemas.openxmlformats.org/drawingml/2006/main">
              <a:ext uri="{FF2B5EF4-FFF2-40B4-BE49-F238E27FC236}">
                <a16:creationId xmlns:a16="http://schemas.microsoft.com/office/drawing/2014/main" id="{F46F993A-AC27-4148-B45F-FFA98E9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PDF, DOCX, MD e TXT com chunks, embeddings e origem</a:t>
            </a:r>
          </a:p>
        </p:txBody>
      </p:sp>
      <p:sp>
        <p:nvSpPr>
          <p:cNvPr id="6" name="panel-1-bullet-3">
            <a:extLst xmlns:a="http://schemas.openxmlformats.org/drawingml/2006/main">
              <a:ext uri="{FF2B5EF4-FFF2-40B4-BE49-F238E27FC236}">
                <a16:creationId xmlns:a16="http://schemas.microsoft.com/office/drawing/2014/main" id="{A634E0F7-98F4-4C37-BCCD-022BD01C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Índice idempotente, retirada de arquivados e expurgo por projeto</a:t>
            </a:r>
          </a:p>
        </p:txBody>
      </p:sp>
      <p:sp>
        <p:nvSpPr>
          <p:cNvPr id="7" name="panel-1-bullet-4">
            <a:extLst xmlns:a="http://schemas.openxmlformats.org/drawingml/2006/main">
              <a:ext uri="{FF2B5EF4-FFF2-40B4-BE49-F238E27FC236}">
                <a16:creationId xmlns:a16="http://schemas.microsoft.com/office/drawing/2014/main" id="{D859FF69-D410-4C5A-A792-F77ECBC5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Busca híbrida PT-BR com filtros e isolamento entre projetos</a:t>
            </a:r>
          </a:p>
        </p:txBody>
      </p:sp>
      <p:sp>
        <p:nvSpPr>
          <p:cNvPr id="8" name="panel-1-bullet-5">
            <a:extLst xmlns:a="http://schemas.openxmlformats.org/drawingml/2006/main">
              <a:ext uri="{FF2B5EF4-FFF2-40B4-BE49-F238E27FC236}">
                <a16:creationId xmlns:a16="http://schemas.microsoft.com/office/drawing/2014/main" id="{8FA892B7-F6E6-4AF1-B3C9-EA53BA25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Interface de busca e avaliação com 20+ consultas</a:t>
            </a:r>
          </a:p>
        </p:txBody>
      </p:sp>
      <p:sp>
        <p:nvSpPr>
          <p:cNvPr id="9" name="panel-2">
            <a:extLst xmlns:a="http://schemas.openxmlformats.org/drawingml/2006/main">
              <a:ext uri="{FF2B5EF4-FFF2-40B4-BE49-F238E27FC236}">
                <a16:creationId xmlns:a16="http://schemas.microsoft.com/office/drawing/2014/main" id="{AD57854C-5E53-49DB-822D-937C0ED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541020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10101B"/>
          </a:solidFill>
          <a:ln xmlns:a="http://schemas.openxmlformats.org/drawingml/2006/main" w="28575">
            <a:solidFill>
              <a:srgbClr val="C8CECE"/>
            </a:solidFill>
            <a:prstDash val="solid"/>
          </a:ln>
        </p:spPr>
      </p:sp>
      <p:sp>
        <p:nvSpPr>
          <p:cNvPr id="10" name="panel-heading-2">
            <a:extLst xmlns:a="http://schemas.openxmlformats.org/drawingml/2006/main">
              <a:ext uri="{FF2B5EF4-FFF2-40B4-BE49-F238E27FC236}">
                <a16:creationId xmlns:a16="http://schemas.microsoft.com/office/drawing/2014/main" id="{D1C5468C-3059-43A6-8904-C0E08A01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5F7"/>
                </a:solidFill>
                <a:latin typeface="Aptos"/>
                <a:ea typeface="Aptos"/>
                <a:cs typeface="Aptos"/>
              </a:rPr>
              <a:t>02  IA ASSISTIVA E GOVERNANÇA</a:t>
            </a:r>
          </a:p>
        </p:txBody>
      </p:sp>
      <p:sp>
        <p:nvSpPr>
          <p:cNvPr id="11" name="panel-2-bullet-1">
            <a:extLst xmlns:a="http://schemas.openxmlformats.org/drawingml/2006/main">
              <a:ext uri="{FF2B5EF4-FFF2-40B4-BE49-F238E27FC236}">
                <a16:creationId xmlns:a16="http://schemas.microsoft.com/office/drawing/2014/main" id="{9EDF223E-B83C-49A0-8D06-F182695F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Harness PRO4TECH configurável e respostas estruturadas</a:t>
            </a:r>
          </a:p>
        </p:txBody>
      </p:sp>
      <p:sp>
        <p:nvSpPr>
          <p:cNvPr id="12" name="panel-2-bullet-2">
            <a:extLst xmlns:a="http://schemas.openxmlformats.org/drawingml/2006/main">
              <a:ext uri="{FF2B5EF4-FFF2-40B4-BE49-F238E27FC236}">
                <a16:creationId xmlns:a16="http://schemas.microsoft.com/office/drawing/2014/main" id="{805812A8-1420-4E59-8614-802B7485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Copiloto questiona lacunas, padroniza itens e sugere similares</a:t>
            </a:r>
          </a:p>
        </p:txBody>
      </p:sp>
      <p:sp>
        <p:nvSpPr>
          <p:cNvPr id="13" name="panel-2-bullet-3">
            <a:extLst xmlns:a="http://schemas.openxmlformats.org/drawingml/2006/main">
              <a:ext uri="{FF2B5EF4-FFF2-40B4-BE49-F238E27FC236}">
                <a16:creationId xmlns:a16="http://schemas.microsoft.com/office/drawing/2014/main" id="{24E0BD59-CAD9-4519-B519-B9CDF1A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24250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Sugestões com evidências, aceite humano e proveniência por campo</a:t>
            </a:r>
          </a:p>
        </p:txBody>
      </p:sp>
      <p:sp>
        <p:nvSpPr>
          <p:cNvPr id="14" name="panel-2-bullet-4">
            <a:extLst xmlns:a="http://schemas.openxmlformats.org/drawingml/2006/main">
              <a:ext uri="{FF2B5EF4-FFF2-40B4-BE49-F238E27FC236}">
                <a16:creationId xmlns:a16="http://schemas.microsoft.com/office/drawing/2014/main" id="{9BC2A834-85A8-4107-935A-9A3F51F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81475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RAG com respostas ligadas às fontes realmente utilizadas</a:t>
            </a:r>
          </a:p>
        </p:txBody>
      </p:sp>
      <p:sp>
        <p:nvSpPr>
          <p:cNvPr id="15" name="panel-2-bullet-5">
            <a:extLst xmlns:a="http://schemas.openxmlformats.org/drawingml/2006/main">
              <a:ext uri="{FF2B5EF4-FFF2-40B4-BE49-F238E27FC236}">
                <a16:creationId xmlns:a16="http://schemas.microsoft.com/office/drawing/2014/main" id="{EE750DA6-159C-44F6-A154-39D60D6A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38700"/>
            <a:ext cx="493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F6A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A35"/>
                </a:solidFill>
                <a:latin typeface="Aptos"/>
                <a:ea typeface="Aptos"/>
                <a:cs typeface="Aptos"/>
              </a:rPr>
              <a:t>• Qualidade configurável, DoR/DoD, relações e versões do backlog</a:t>
            </a:r>
          </a:p>
        </p:txBody>
      </p:sp>
      <p:sp>
        <p:nvSpPr>
          <p:cNvPr id="16" name="results-date">
            <a:extLst xmlns:a="http://schemas.openxmlformats.org/drawingml/2006/main">
              <a:ext uri="{FF2B5EF4-FFF2-40B4-BE49-F238E27FC236}">
                <a16:creationId xmlns:a16="http://schemas.microsoft.com/office/drawing/2014/main" id="{85B2BEC4-009E-4854-8132-E31FD96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C8CECE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C8CECE"/>
                </a:solidFill>
                <a:latin typeface="Aptos"/>
                <a:ea typeface="Aptos"/>
                <a:cs typeface="Aptos"/>
              </a:rPr>
              <a:t>Cartões da Sprint 2 no Trello: Concluído (consulta em 25/10/2026).</a:t>
            </a:r>
          </a:p>
        </p:txBody>
      </p:sp>
    </p:spTree>
    <p:extLst>
      <p:ext uri="{BB962C8B-B14F-4D97-AF65-F5344CB8AC3E}">
        <p14:creationId xmlns:p14="http://schemas.microsoft.com/office/powerpoint/2010/main" val="415725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2026-10-26T00:43:12.6220000Z</dcterms:created>
  <dcterms:modified xsi:type="dcterms:W3CDTF">2026-10-26T00:43:12.6220000Z</dcterms:modified>
</coreProperties>
</file>